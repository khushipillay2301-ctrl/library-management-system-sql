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59" r:id="rId15"/>
  </p:sldIdLst>
  <p:sldSz cx="12192000" cy="6858000"/>
  <p:notesSz cx="6858000" cy="9144000"/>
  <p:embeddedFontLst>
    <p:embeddedFont>
      <p:font typeface="Lato Black" panose="020F0502020204030203" pitchFamily="34" charset="0"/>
      <p:bold r:id="rId17"/>
      <p:boldItalic r:id="rId18"/>
    </p:embeddedFon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hushi-pillay-65a45929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48318" y="3689706"/>
            <a:ext cx="7246189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6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Library Management </a:t>
            </a:r>
            <a:endParaRPr sz="6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338077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Khushi S. Pillay</a:t>
            </a:r>
            <a:endParaRPr lang="en-US" sz="32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4;p3">
            <a:extLst>
              <a:ext uri="{FF2B5EF4-FFF2-40B4-BE49-F238E27FC236}">
                <a16:creationId xmlns:a16="http://schemas.microsoft.com/office/drawing/2014/main" id="{08324082-457D-380A-9B9E-E27D03CA14B9}"/>
              </a:ext>
            </a:extLst>
          </p:cNvPr>
          <p:cNvSpPr txBox="1"/>
          <p:nvPr/>
        </p:nvSpPr>
        <p:spPr>
          <a:xfrm>
            <a:off x="641023" y="1124400"/>
            <a:ext cx="774255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BSc Computer Science Graduate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ork experience : NA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N" sz="1800" dirty="0">
                <a:hlinkClick r:id="rId3"/>
              </a:rPr>
              <a:t>https://www.linkedin.com/in/khushi-pillay-65a459294</a:t>
            </a:r>
            <a:endParaRPr lang="en-IN" sz="1800" dirty="0"/>
          </a:p>
          <a:p>
            <a:pPr marL="285750" lvl="0" indent="-285750"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IN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 https://github.com/khushipillay2301-ctrl/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5;p3">
            <a:extLst>
              <a:ext uri="{FF2B5EF4-FFF2-40B4-BE49-F238E27FC236}">
                <a16:creationId xmlns:a16="http://schemas.microsoft.com/office/drawing/2014/main" id="{4CB9C59B-2089-662A-774A-113EB3D5230E}"/>
              </a:ext>
            </a:extLst>
          </p:cNvPr>
          <p:cNvSpPr txBox="1"/>
          <p:nvPr/>
        </p:nvSpPr>
        <p:spPr>
          <a:xfrm>
            <a:off x="474790" y="3429000"/>
            <a:ext cx="3984088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Priyanshu B. Manke</a:t>
            </a:r>
            <a:endParaRPr lang="en-US" sz="18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2895D-1B39-43E9-F73D-D1769EF54F40}"/>
              </a:ext>
            </a:extLst>
          </p:cNvPr>
          <p:cNvSpPr txBox="1"/>
          <p:nvPr/>
        </p:nvSpPr>
        <p:spPr>
          <a:xfrm>
            <a:off x="641022" y="4439710"/>
            <a:ext cx="72586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Background : BSc Computer Science Graduate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ork experience : NA</a:t>
            </a:r>
          </a:p>
          <a:p>
            <a:pPr marL="285750" lvl="0" indent="-285750">
              <a:buSzPts val="1800"/>
              <a:buFont typeface="Calibri"/>
              <a:buChar char="•"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N" sz="1800" dirty="0"/>
              <a:t>https://www.linkedin.com/in/priyanshu-manke-680960227/</a:t>
            </a:r>
          </a:p>
          <a:p>
            <a:pPr marL="285750" lvl="0" indent="-285750">
              <a:buSzPts val="1800"/>
              <a:buFont typeface="Calibri"/>
              <a:buChar char="•"/>
              <a:defRPr/>
            </a:pP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8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800" dirty="0"/>
              <a:t>https://github.com/PriyanshuManke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61B7-3BF6-CB61-6888-FFCF225A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5" y="101176"/>
            <a:ext cx="5194955" cy="86036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Entity Relationship (ER)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37824C-1905-4148-6FF9-9EB6060F1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6" y="1093511"/>
            <a:ext cx="10765409" cy="518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9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FD03B15-AE3E-CA56-2185-CF9284E7E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359" y="348793"/>
            <a:ext cx="4572785" cy="561837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/>
              <a:t>Entities &amp; Attributes:-</a:t>
            </a:r>
          </a:p>
          <a:p>
            <a:r>
              <a:rPr lang="en-IN" sz="2000" dirty="0"/>
              <a:t>BOOK: </a:t>
            </a:r>
            <a:r>
              <a:rPr lang="en-IN" sz="2000" dirty="0" err="1"/>
              <a:t>BookID</a:t>
            </a:r>
            <a:r>
              <a:rPr lang="en-IN" sz="2000" dirty="0"/>
              <a:t> (PK), Title, </a:t>
            </a:r>
            <a:r>
              <a:rPr lang="en-IN" sz="2000" dirty="0" err="1"/>
              <a:t>PublisherName</a:t>
            </a:r>
            <a:endParaRPr lang="en-IN" sz="2000" dirty="0"/>
          </a:p>
          <a:p>
            <a:r>
              <a:rPr lang="en-IN" sz="2000" dirty="0"/>
              <a:t>BOOK_AUTHORS: </a:t>
            </a:r>
            <a:r>
              <a:rPr lang="en-IN" sz="2000" dirty="0" err="1"/>
              <a:t>BookID</a:t>
            </a:r>
            <a:r>
              <a:rPr lang="en-IN" sz="2000" dirty="0"/>
              <a:t> (FK), </a:t>
            </a:r>
            <a:r>
              <a:rPr lang="en-IN" sz="2000" dirty="0" err="1"/>
              <a:t>AuthorName</a:t>
            </a:r>
            <a:endParaRPr lang="en-IN" sz="2000" dirty="0"/>
          </a:p>
          <a:p>
            <a:r>
              <a:rPr lang="en-IN" sz="2000" dirty="0"/>
              <a:t>LIBRARY_BRANCH: </a:t>
            </a:r>
            <a:r>
              <a:rPr lang="en-IN" sz="2000" dirty="0" err="1"/>
              <a:t>BranchID</a:t>
            </a:r>
            <a:r>
              <a:rPr lang="en-IN" sz="2000" dirty="0"/>
              <a:t> (PK), </a:t>
            </a:r>
            <a:r>
              <a:rPr lang="en-IN" sz="2000" dirty="0" err="1"/>
              <a:t>BranchName</a:t>
            </a:r>
            <a:r>
              <a:rPr lang="en-IN" sz="2000" dirty="0"/>
              <a:t>, Address</a:t>
            </a:r>
          </a:p>
          <a:p>
            <a:r>
              <a:rPr lang="en-IN" sz="2000" dirty="0"/>
              <a:t>BOOK_COPIES: </a:t>
            </a:r>
            <a:r>
              <a:rPr lang="en-IN" sz="2000" dirty="0" err="1"/>
              <a:t>BookID</a:t>
            </a:r>
            <a:r>
              <a:rPr lang="en-IN" sz="2000" dirty="0"/>
              <a:t> (FK), </a:t>
            </a:r>
            <a:r>
              <a:rPr lang="en-IN" sz="2000" dirty="0" err="1"/>
              <a:t>BranchID</a:t>
            </a:r>
            <a:r>
              <a:rPr lang="en-IN" sz="2000" dirty="0"/>
              <a:t> (FK), </a:t>
            </a:r>
            <a:r>
              <a:rPr lang="en-IN" sz="2000" dirty="0" err="1"/>
              <a:t>No_of_Copies</a:t>
            </a:r>
            <a:endParaRPr lang="en-IN" sz="2000" dirty="0"/>
          </a:p>
          <a:p>
            <a:r>
              <a:rPr lang="en-IN" sz="2000" dirty="0"/>
              <a:t>BORROWER: </a:t>
            </a:r>
            <a:r>
              <a:rPr lang="en-IN" sz="2000" dirty="0" err="1"/>
              <a:t>CardNo</a:t>
            </a:r>
            <a:r>
              <a:rPr lang="en-IN" sz="2000" dirty="0"/>
              <a:t> (PK), Name, Address, Phone</a:t>
            </a:r>
          </a:p>
          <a:p>
            <a:r>
              <a:rPr lang="en-IN" sz="2000" dirty="0"/>
              <a:t>BOOK_LOANS: </a:t>
            </a:r>
            <a:r>
              <a:rPr lang="en-IN" sz="2000" dirty="0" err="1"/>
              <a:t>BookID</a:t>
            </a:r>
            <a:r>
              <a:rPr lang="en-IN" sz="2000" dirty="0"/>
              <a:t> (FK), </a:t>
            </a:r>
            <a:r>
              <a:rPr lang="en-IN" sz="2000" dirty="0" err="1"/>
              <a:t>BranchID</a:t>
            </a:r>
            <a:r>
              <a:rPr lang="en-IN" sz="2000" dirty="0"/>
              <a:t> (FK), </a:t>
            </a:r>
            <a:r>
              <a:rPr lang="en-IN" sz="2000" dirty="0" err="1"/>
              <a:t>CardNo</a:t>
            </a:r>
            <a:r>
              <a:rPr lang="en-IN" sz="2000" dirty="0"/>
              <a:t> (FK), </a:t>
            </a:r>
            <a:r>
              <a:rPr lang="en-IN" sz="2000" dirty="0" err="1"/>
              <a:t>DateOut</a:t>
            </a:r>
            <a:r>
              <a:rPr lang="en-IN" sz="2000" dirty="0"/>
              <a:t>, </a:t>
            </a:r>
            <a:r>
              <a:rPr lang="en-IN" sz="2000" dirty="0" err="1"/>
              <a:t>DueDate</a:t>
            </a:r>
            <a:endParaRPr lang="en-IN" sz="2000" dirty="0"/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B367A-9B52-FEC3-72F0-6AC791716CBD}"/>
              </a:ext>
            </a:extLst>
          </p:cNvPr>
          <p:cNvSpPr txBox="1"/>
          <p:nvPr/>
        </p:nvSpPr>
        <p:spPr>
          <a:xfrm>
            <a:off x="7400041" y="1008668"/>
            <a:ext cx="4308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E3C1D6-33A0-8396-C3BE-81D9473A142D}"/>
              </a:ext>
            </a:extLst>
          </p:cNvPr>
          <p:cNvSpPr txBox="1">
            <a:spLocks/>
          </p:cNvSpPr>
          <p:nvPr/>
        </p:nvSpPr>
        <p:spPr>
          <a:xfrm>
            <a:off x="6096000" y="348793"/>
            <a:ext cx="4572785" cy="561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IN" sz="2000" b="1" dirty="0"/>
              <a:t>Relationships</a:t>
            </a:r>
          </a:p>
          <a:p>
            <a:r>
              <a:rPr lang="en-IN" sz="2000" dirty="0"/>
              <a:t>BOOK → BOOK_AUTHORS</a:t>
            </a:r>
          </a:p>
          <a:p>
            <a:pPr marL="114300" indent="0">
              <a:buNone/>
            </a:pPr>
            <a:r>
              <a:rPr lang="en-IN" sz="2000" dirty="0"/>
              <a:t>One book can have one or more authors</a:t>
            </a:r>
          </a:p>
          <a:p>
            <a:r>
              <a:rPr lang="en-IN" sz="2000" dirty="0"/>
              <a:t>BOOK → BOOK_COPIES → LIBRARY_BRANCH</a:t>
            </a:r>
          </a:p>
          <a:p>
            <a:pPr marL="114300" indent="0">
              <a:buNone/>
            </a:pPr>
            <a:r>
              <a:rPr lang="en-IN" sz="2000" dirty="0"/>
              <a:t>Each book has multiple copies across branches</a:t>
            </a:r>
          </a:p>
          <a:p>
            <a:r>
              <a:rPr lang="en-IN" sz="2000" dirty="0"/>
              <a:t>BORROWER → BOOK_LOANS → BOOK</a:t>
            </a:r>
          </a:p>
          <a:p>
            <a:pPr marL="114300" indent="0">
              <a:buNone/>
            </a:pPr>
            <a:r>
              <a:rPr lang="en-IN" sz="2000" dirty="0"/>
              <a:t>A borrower can loan multiple books</a:t>
            </a:r>
          </a:p>
          <a:p>
            <a:r>
              <a:rPr lang="en-IN" sz="2000" dirty="0"/>
              <a:t>LIBRARY_BRANCH → BOOK_LOANS</a:t>
            </a:r>
          </a:p>
          <a:p>
            <a:pPr marL="114300" indent="0">
              <a:buNone/>
            </a:pPr>
            <a:r>
              <a:rPr lang="en-IN" sz="2000" dirty="0"/>
              <a:t>Each branch issues multiple book loans</a:t>
            </a:r>
          </a:p>
          <a:p>
            <a:pPr marL="114300" indent="0">
              <a:buFont typeface="Arial"/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75661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77D7A-AEFC-F7A1-B8B0-E2D39EA57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9" y="128309"/>
            <a:ext cx="10515600" cy="103004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Database Overview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46CA1-7398-68B7-9872-C4AF239F4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08234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US" dirty="0"/>
              <a:t>Database Name: Library Management System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Main Tables Used: </a:t>
            </a:r>
          </a:p>
          <a:p>
            <a:r>
              <a:rPr lang="en-US" dirty="0"/>
              <a:t>BOOK</a:t>
            </a:r>
          </a:p>
          <a:p>
            <a:r>
              <a:rPr lang="en-US" dirty="0"/>
              <a:t>BOOK_AUTHORS</a:t>
            </a:r>
          </a:p>
          <a:p>
            <a:r>
              <a:rPr lang="en-US" dirty="0"/>
              <a:t>BOOK_COPIES</a:t>
            </a:r>
          </a:p>
          <a:p>
            <a:r>
              <a:rPr lang="en-US" dirty="0"/>
              <a:t>BOOK_LOANS</a:t>
            </a:r>
          </a:p>
          <a:p>
            <a:r>
              <a:rPr lang="en-US" dirty="0"/>
              <a:t>LIBRARY_BRANCH</a:t>
            </a:r>
          </a:p>
          <a:p>
            <a:r>
              <a:rPr lang="en-US" dirty="0"/>
              <a:t>BORROWER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Purpose: To efficiently manage book records, copies per branch, loan details, and borrower information.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54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10FB3-0B97-49A8-74C0-AA894D77D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93" y="72048"/>
            <a:ext cx="11651531" cy="131032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Question 1: How many copies of the book titled "The Lost Tribe" are owned by the library branch "Sharpstown"?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642A5-7018-EAD8-26A8-FC5560F4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693" y="4876141"/>
            <a:ext cx="12000323" cy="114046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This query returns the total number of copies of The Lost Tribe available specifically at the Sharpstown branch.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1CD85-2E54-734A-A3E0-8DE65A76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0" y="1913149"/>
            <a:ext cx="6222582" cy="28026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94D55E6-A29D-5354-4F64-0299339D5BB5}"/>
              </a:ext>
            </a:extLst>
          </p:cNvPr>
          <p:cNvSpPr txBox="1"/>
          <p:nvPr/>
        </p:nvSpPr>
        <p:spPr>
          <a:xfrm>
            <a:off x="103693" y="1311869"/>
            <a:ext cx="395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SQL Query Used:</a:t>
            </a:r>
          </a:p>
        </p:txBody>
      </p:sp>
    </p:spTree>
    <p:extLst>
      <p:ext uri="{BB962C8B-B14F-4D97-AF65-F5344CB8AC3E}">
        <p14:creationId xmlns:p14="http://schemas.microsoft.com/office/powerpoint/2010/main" val="116175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2BC6-DB27-10C4-EC2E-D4FDE711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703"/>
            <a:ext cx="12192000" cy="136906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Question 2: How many copies of the book titled "The Lost Tribe" are owned by each library branch?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B3BA6-2937-BF87-2B14-31D5870A8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92" y="4892682"/>
            <a:ext cx="11947510" cy="996233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This query lists each library branch along with the number of copies of The Lost Tribe owned by that branch.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DFD51-2F61-C396-C98D-AAE480A8E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53" y="1965317"/>
            <a:ext cx="5395708" cy="29273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E65727-F981-A87D-AF14-9B0DA6AD534E}"/>
              </a:ext>
            </a:extLst>
          </p:cNvPr>
          <p:cNvSpPr txBox="1"/>
          <p:nvPr/>
        </p:nvSpPr>
        <p:spPr>
          <a:xfrm>
            <a:off x="81092" y="1367398"/>
            <a:ext cx="3519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SQL Query Used:</a:t>
            </a:r>
          </a:p>
        </p:txBody>
      </p:sp>
    </p:spTree>
    <p:extLst>
      <p:ext uri="{BB962C8B-B14F-4D97-AF65-F5344CB8AC3E}">
        <p14:creationId xmlns:p14="http://schemas.microsoft.com/office/powerpoint/2010/main" val="201147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14B8-05C9-D9DB-5D92-A966E5B95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13443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Question 3: Retrieve the names of all borrowers who do not have any books checked out.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41E34-7A86-031D-AD28-59FF4843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5164775"/>
            <a:ext cx="11481847" cy="1002416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This query displays borrowers who currently have no active book loans.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41B9B-A2BB-FC77-84EE-B7733F984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1" y="1973057"/>
            <a:ext cx="6278253" cy="30454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27FD77-E374-9F26-5CCF-16925BC62BD3}"/>
              </a:ext>
            </a:extLst>
          </p:cNvPr>
          <p:cNvSpPr txBox="1"/>
          <p:nvPr/>
        </p:nvSpPr>
        <p:spPr>
          <a:xfrm>
            <a:off x="0" y="1272773"/>
            <a:ext cx="464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SQL Query Used:</a:t>
            </a:r>
          </a:p>
        </p:txBody>
      </p:sp>
    </p:spTree>
    <p:extLst>
      <p:ext uri="{BB962C8B-B14F-4D97-AF65-F5344CB8AC3E}">
        <p14:creationId xmlns:p14="http://schemas.microsoft.com/office/powerpoint/2010/main" val="3879102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A3B30-AA2E-3159-2E5A-9DD328E75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3" y="91748"/>
            <a:ext cx="11944546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Question 4: For books loaned from "Sharpstown" branch with </a:t>
            </a:r>
            <a:r>
              <a:rPr lang="en-US" sz="2800" dirty="0" err="1">
                <a:solidFill>
                  <a:srgbClr val="FF0000"/>
                </a:solidFill>
              </a:rPr>
              <a:t>DueDate</a:t>
            </a:r>
            <a:r>
              <a:rPr lang="en-US" sz="2800" dirty="0">
                <a:solidFill>
                  <a:srgbClr val="FF0000"/>
                </a:solidFill>
              </a:rPr>
              <a:t> = 2/3/18, retrieve book title, borrower name, and address.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1E383-C3F5-4AEB-0141-E8E590C4F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166" y="4684467"/>
            <a:ext cx="10515600" cy="2081785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dirty="0"/>
              <a:t>This query shows:</a:t>
            </a:r>
          </a:p>
          <a:p>
            <a:r>
              <a:rPr lang="en-US" sz="1800" dirty="0"/>
              <a:t>Book Title</a:t>
            </a:r>
          </a:p>
          <a:p>
            <a:r>
              <a:rPr lang="en-US" sz="1800" dirty="0"/>
              <a:t>Borrower Name</a:t>
            </a:r>
          </a:p>
          <a:p>
            <a:r>
              <a:rPr lang="en-US" sz="1800" dirty="0"/>
              <a:t>Borrower Address</a:t>
            </a:r>
          </a:p>
          <a:p>
            <a:pPr marL="114300" indent="0">
              <a:buNone/>
            </a:pPr>
            <a:r>
              <a:rPr lang="en-US" sz="1800" dirty="0"/>
              <a:t>for books issued from Sharpstown and due on 2 Feb 2018.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F680B-71C8-DB92-D96E-AC36E9D45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66" y="1956888"/>
            <a:ext cx="5958525" cy="2445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C85901-92D9-E45C-F563-3A18AE79816D}"/>
              </a:ext>
            </a:extLst>
          </p:cNvPr>
          <p:cNvSpPr txBox="1"/>
          <p:nvPr/>
        </p:nvSpPr>
        <p:spPr>
          <a:xfrm>
            <a:off x="197178" y="1435884"/>
            <a:ext cx="3308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SQL Query Used:</a:t>
            </a:r>
          </a:p>
        </p:txBody>
      </p:sp>
    </p:spTree>
    <p:extLst>
      <p:ext uri="{BB962C8B-B14F-4D97-AF65-F5344CB8AC3E}">
        <p14:creationId xmlns:p14="http://schemas.microsoft.com/office/powerpoint/2010/main" val="439496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3F7D-8564-FEC6-1453-16C8F71E1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70" y="119828"/>
            <a:ext cx="10515600" cy="10017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Question 5: For each library branch, retrieve branch name and total number of books loaned out.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CEE9C-9604-2660-7055-AC0553B20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761" y="5103980"/>
            <a:ext cx="11661743" cy="1001762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This query returns the total number of books issued from each library branch.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FC474-3FB0-31F7-A8BC-636EB993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64" y="1882723"/>
            <a:ext cx="6109355" cy="2962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252763-6B23-4C6E-F47D-16E125D6239D}"/>
              </a:ext>
            </a:extLst>
          </p:cNvPr>
          <p:cNvSpPr txBox="1"/>
          <p:nvPr/>
        </p:nvSpPr>
        <p:spPr>
          <a:xfrm>
            <a:off x="159470" y="1253139"/>
            <a:ext cx="345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SQL Query Used: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61387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A946-6E37-E358-2C7A-5E13A2ED0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2" y="173579"/>
            <a:ext cx="11039573" cy="812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Question 6: Retrieve borrowers who have more than 5 books checked out.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779CF-4F12-5EF9-7AB0-A8F84FEF7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010695"/>
            <a:ext cx="10515600" cy="241561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/>
              <a:t>This query lists:</a:t>
            </a:r>
          </a:p>
          <a:p>
            <a:r>
              <a:rPr lang="en-US" sz="2000" dirty="0"/>
              <a:t>Borrower Name</a:t>
            </a:r>
          </a:p>
          <a:p>
            <a:r>
              <a:rPr lang="en-US" sz="2000" dirty="0"/>
              <a:t>Address</a:t>
            </a:r>
          </a:p>
          <a:p>
            <a:r>
              <a:rPr lang="en-US" sz="2000" dirty="0"/>
              <a:t>Number of Books Issued</a:t>
            </a:r>
          </a:p>
          <a:p>
            <a:pPr marL="114300" indent="0">
              <a:buNone/>
            </a:pPr>
            <a:r>
              <a:rPr lang="en-US" sz="2000" dirty="0"/>
              <a:t>for borrowers who have checked out more than five books.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0E02A-641C-93CA-96C1-84E61E783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2" y="1501120"/>
            <a:ext cx="6334812" cy="2509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40F9E8-E98C-7CE0-EF2C-5D62D458D7FF}"/>
              </a:ext>
            </a:extLst>
          </p:cNvPr>
          <p:cNvSpPr txBox="1"/>
          <p:nvPr/>
        </p:nvSpPr>
        <p:spPr>
          <a:xfrm>
            <a:off x="150042" y="875007"/>
            <a:ext cx="361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SQL Query Used: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60787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2FA34-48AE-B58D-D810-4F2E61013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Question 7: For books authored by "Stephen King", retrieve title and number of copies owned by "Central" branch.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79D67-017F-5779-DE3E-E5B1721BE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058869"/>
            <a:ext cx="12192000" cy="107783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This query shows Stephen King books and how many copies are available at the Central branch.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30B09-641F-4D37-580F-19E559478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0" y="1999596"/>
            <a:ext cx="5184742" cy="2858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945B25-A047-25B7-EEE4-C8A8071F1965}"/>
              </a:ext>
            </a:extLst>
          </p:cNvPr>
          <p:cNvSpPr txBox="1"/>
          <p:nvPr/>
        </p:nvSpPr>
        <p:spPr>
          <a:xfrm>
            <a:off x="0" y="1249698"/>
            <a:ext cx="4364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SQL Query Used: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78069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346E-6A26-869C-8EFE-1802850F5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09" y="129456"/>
            <a:ext cx="10515600" cy="86036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Conclusion:-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AF12F-51DC-23E3-5447-132F80E03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909" y="870556"/>
            <a:ext cx="10515600" cy="435133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IN" dirty="0"/>
              <a:t>Project Summary:</a:t>
            </a:r>
          </a:p>
          <a:p>
            <a:r>
              <a:rPr lang="en-IN" dirty="0"/>
              <a:t>Implemented JOINs, GROUP BY, HAVING, and subqueries</a:t>
            </a:r>
          </a:p>
          <a:p>
            <a:r>
              <a:rPr lang="en-IN" dirty="0"/>
              <a:t>Retrieved real-world insights from a relational database</a:t>
            </a:r>
          </a:p>
          <a:p>
            <a:r>
              <a:rPr lang="en-IN" dirty="0"/>
              <a:t>Demonstrated strong understanding of SQL querying and database design</a:t>
            </a:r>
          </a:p>
          <a:p>
            <a:pPr marL="114300" indent="0">
              <a:buNone/>
            </a:pPr>
            <a:r>
              <a:rPr lang="en-IN" dirty="0"/>
              <a:t>Key Learning Outcomes:</a:t>
            </a:r>
          </a:p>
          <a:p>
            <a:r>
              <a:rPr lang="en-IN" dirty="0"/>
              <a:t>Data retrieval using complex SQL queries</a:t>
            </a:r>
          </a:p>
          <a:p>
            <a:r>
              <a:rPr lang="en-IN" dirty="0"/>
              <a:t>Practical understanding of Library Management Systems</a:t>
            </a:r>
          </a:p>
          <a:p>
            <a:r>
              <a:rPr lang="en-IN" dirty="0"/>
              <a:t>Improved analytical and problem-solving skills</a:t>
            </a:r>
          </a:p>
        </p:txBody>
      </p:sp>
    </p:spTree>
    <p:extLst>
      <p:ext uri="{BB962C8B-B14F-4D97-AF65-F5344CB8AC3E}">
        <p14:creationId xmlns:p14="http://schemas.microsoft.com/office/powerpoint/2010/main" val="3149829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624</Words>
  <Application>Microsoft Office PowerPoint</Application>
  <PresentationFormat>Widescreen</PresentationFormat>
  <Paragraphs>79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Lato Black</vt:lpstr>
      <vt:lpstr>Calibri</vt:lpstr>
      <vt:lpstr>Arial</vt:lpstr>
      <vt:lpstr>Libre Baskerville</vt:lpstr>
      <vt:lpstr>Office Theme</vt:lpstr>
      <vt:lpstr>PowerPoint Presentation</vt:lpstr>
      <vt:lpstr>PowerPoint Presentation</vt:lpstr>
      <vt:lpstr>Entity Relationship (ER) Diagram</vt:lpstr>
      <vt:lpstr>PowerPoint Presentation</vt:lpstr>
      <vt:lpstr>Database Overview</vt:lpstr>
      <vt:lpstr>Question 1: How many copies of the book titled "The Lost Tribe" are owned by the library branch "Sharpstown"?</vt:lpstr>
      <vt:lpstr>Question 2: How many copies of the book titled "The Lost Tribe" are owned by each library branch?</vt:lpstr>
      <vt:lpstr>Question 3: Retrieve the names of all borrowers who do not have any books checked out.</vt:lpstr>
      <vt:lpstr>Question 4: For books loaned from "Sharpstown" branch with DueDate = 2/3/18, retrieve book title, borrower name, and address.</vt:lpstr>
      <vt:lpstr>Question 5: For each library branch, retrieve branch name and total number of books loaned out.</vt:lpstr>
      <vt:lpstr>Question 6: Retrieve borrowers who have more than 5 books checked out.</vt:lpstr>
      <vt:lpstr>Question 7: For books authored by "Stephen King", retrieve title and number of copies owned by "Central" branch.</vt:lpstr>
      <vt:lpstr>Conclusion:-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Khushi Pillay</cp:lastModifiedBy>
  <cp:revision>2</cp:revision>
  <dcterms:created xsi:type="dcterms:W3CDTF">2021-02-16T05:19:01Z</dcterms:created>
  <dcterms:modified xsi:type="dcterms:W3CDTF">2026-01-06T10:33:47Z</dcterms:modified>
</cp:coreProperties>
</file>